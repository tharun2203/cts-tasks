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bold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cdd871fc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cdd871fc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cdd871fca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cdd871fca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cdd871fca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cdd871fca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cdd871fca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cdd871fca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cdd871fca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cdd871fca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cdd871fca_0_1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cdd871fca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cdd871fca_0_1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ecdd871fca_0_1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cdd871fca_0_1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ecdd871fca_0_1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cdd871fca_9_0)">
  <p:cSld name="Generated (g3ecdd871fca_9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Relationship Id="rId4" Type="http://schemas.openxmlformats.org/officeDocument/2006/relationships/image" Target="../media/image2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12.png"/><Relationship Id="rId8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2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professional, high-tech background featuring abstract neural network connections and software code snippets in subtle blue and white tones, representing AI and software testing. Clean and corporate." id="56" name="Google Shape;56;p14"/>
          <p:cNvPicPr preferRelativeResize="0"/>
          <p:nvPr/>
        </p:nvPicPr>
        <p:blipFill rotWithShape="1">
          <a:blip r:embed="rId3">
            <a:alphaModFix/>
          </a:blip>
          <a:srcRect b="0" l="-16684" r="37576" t="0"/>
          <a:stretch/>
        </p:blipFill>
        <p:spPr>
          <a:xfrm>
            <a:off x="4485625" y="0"/>
            <a:ext cx="48921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9500" y="0"/>
            <a:ext cx="76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571500" y="762000"/>
            <a:ext cx="571500" cy="573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/>
        </p:nvSpPr>
        <p:spPr>
          <a:xfrm>
            <a:off x="571500" y="1143000"/>
            <a:ext cx="5238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rPr>
              <a:t>Analysis on How AI is Being Applied in Flaky Test Detection</a:t>
            </a:r>
            <a:endParaRPr b="1" sz="3600">
              <a:solidFill>
                <a:srgbClr val="1A73E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571500" y="3619500"/>
            <a:ext cx="52389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Prepared By: </a:t>
            </a:r>
            <a:endParaRPr b="0" sz="16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Name: Bandharam, Tharun Goud</a:t>
            </a:r>
            <a:endParaRPr sz="16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ID: 2457134</a:t>
            </a:r>
            <a:endParaRPr sz="16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1" name="Google Shape;61;p14"/>
          <p:cNvGrpSpPr/>
          <p:nvPr/>
        </p:nvGrpSpPr>
        <p:grpSpPr>
          <a:xfrm>
            <a:off x="7615238" y="-481012"/>
            <a:ext cx="1528913" cy="1914600"/>
            <a:chOff x="7615238" y="-481012"/>
            <a:chExt cx="1528913" cy="1914600"/>
          </a:xfrm>
        </p:grpSpPr>
        <p:pic>
          <p:nvPicPr>
            <p:cNvPr id="62" name="Google Shape;62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15238" y="-481012"/>
              <a:ext cx="1528800" cy="191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900988" y="-195262"/>
              <a:ext cx="1242900" cy="1343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1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905750" y="-190500"/>
              <a:ext cx="1238400" cy="1333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571500" y="476250"/>
            <a:ext cx="571500" cy="573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571500" y="666750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endParaRPr b="1" sz="3600">
              <a:solidFill>
                <a:srgbClr val="1A73E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2" name="Google Shape;72;p15"/>
          <p:cNvGrpSpPr/>
          <p:nvPr/>
        </p:nvGrpSpPr>
        <p:grpSpPr>
          <a:xfrm>
            <a:off x="571500" y="1524000"/>
            <a:ext cx="4953000" cy="762000"/>
            <a:chOff x="0" y="0"/>
            <a:chExt cx="4953000" cy="762000"/>
          </a:xfrm>
        </p:grpSpPr>
        <p:sp>
          <p:nvSpPr>
            <p:cNvPr id="73" name="Google Shape;73;p15"/>
            <p:cNvSpPr/>
            <p:nvPr/>
          </p:nvSpPr>
          <p:spPr>
            <a:xfrm>
              <a:off x="0" y="0"/>
              <a:ext cx="4953000" cy="762000"/>
            </a:xfrm>
            <a:prstGeom prst="roundRect">
              <a:avLst>
                <a:gd fmla="val 10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142875" y="2446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</a:t>
              </a:r>
              <a:endParaRPr sz="24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619125" y="95250"/>
              <a:ext cx="419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Automated testing plays a critical role in maintaining high-quality software standards.</a:t>
              </a:r>
              <a:endParaRPr b="0" sz="13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6" name="Google Shape;76;p15"/>
          <p:cNvGrpSpPr/>
          <p:nvPr/>
        </p:nvGrpSpPr>
        <p:grpSpPr>
          <a:xfrm>
            <a:off x="571500" y="2381250"/>
            <a:ext cx="4953000" cy="762000"/>
            <a:chOff x="0" y="0"/>
            <a:chExt cx="4953000" cy="762000"/>
          </a:xfrm>
        </p:grpSpPr>
        <p:sp>
          <p:nvSpPr>
            <p:cNvPr id="77" name="Google Shape;77;p15"/>
            <p:cNvSpPr/>
            <p:nvPr/>
          </p:nvSpPr>
          <p:spPr>
            <a:xfrm>
              <a:off x="0" y="0"/>
              <a:ext cx="4953000" cy="762000"/>
            </a:xfrm>
            <a:prstGeom prst="roundRect">
              <a:avLst>
                <a:gd fmla="val 10000" name="adj"/>
              </a:avLst>
            </a:prstGeom>
            <a:solidFill>
              <a:srgbClr val="FFF4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 txBox="1"/>
            <p:nvPr/>
          </p:nvSpPr>
          <p:spPr>
            <a:xfrm>
              <a:off x="142875" y="2446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D9302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report_problem</a:t>
              </a:r>
              <a:endParaRPr sz="2400">
                <a:solidFill>
                  <a:srgbClr val="D9302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619125" y="95250"/>
              <a:ext cx="419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Flaky tests:</a:t>
              </a:r>
              <a:r>
                <a:rPr b="0" lang="en" sz="130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 Tests that produce inconsistent results without code changes, undermining trust.</a:t>
              </a:r>
              <a:endParaRPr b="0" sz="13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0" name="Google Shape;80;p15"/>
          <p:cNvGrpSpPr/>
          <p:nvPr/>
        </p:nvGrpSpPr>
        <p:grpSpPr>
          <a:xfrm>
            <a:off x="571500" y="3238500"/>
            <a:ext cx="4953000" cy="762000"/>
            <a:chOff x="0" y="0"/>
            <a:chExt cx="4953000" cy="762000"/>
          </a:xfrm>
        </p:grpSpPr>
        <p:sp>
          <p:nvSpPr>
            <p:cNvPr id="81" name="Google Shape;81;p15"/>
            <p:cNvSpPr/>
            <p:nvPr/>
          </p:nvSpPr>
          <p:spPr>
            <a:xfrm>
              <a:off x="0" y="0"/>
              <a:ext cx="4953000" cy="762000"/>
            </a:xfrm>
            <a:prstGeom prst="roundRect">
              <a:avLst>
                <a:gd fmla="val 10000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 txBox="1"/>
            <p:nvPr/>
          </p:nvSpPr>
          <p:spPr>
            <a:xfrm>
              <a:off x="142875" y="2446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biotech</a:t>
              </a:r>
              <a:endParaRPr sz="24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619125" y="95250"/>
              <a:ext cx="419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These inconsistencies increase debugging overhead and diminish overall confidence in automation suites.</a:t>
              </a:r>
              <a:endParaRPr b="0" sz="13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" name="Google Shape;84;p15"/>
          <p:cNvGrpSpPr/>
          <p:nvPr/>
        </p:nvGrpSpPr>
        <p:grpSpPr>
          <a:xfrm>
            <a:off x="571500" y="4095750"/>
            <a:ext cx="4953000" cy="762000"/>
            <a:chOff x="0" y="0"/>
            <a:chExt cx="4953000" cy="762000"/>
          </a:xfrm>
        </p:grpSpPr>
        <p:sp>
          <p:nvSpPr>
            <p:cNvPr id="85" name="Google Shape;85;p15"/>
            <p:cNvSpPr/>
            <p:nvPr/>
          </p:nvSpPr>
          <p:spPr>
            <a:xfrm>
              <a:off x="0" y="0"/>
              <a:ext cx="4953000" cy="762000"/>
            </a:xfrm>
            <a:prstGeom prst="roundRect">
              <a:avLst>
                <a:gd fmla="val 10000" name="adj"/>
              </a:avLst>
            </a:prstGeom>
            <a:solidFill>
              <a:srgbClr val="E8F0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142875" y="2446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7" name="Google Shape;87;p15"/>
            <p:cNvSpPr txBox="1"/>
            <p:nvPr/>
          </p:nvSpPr>
          <p:spPr>
            <a:xfrm>
              <a:off x="619125" y="95250"/>
              <a:ext cx="419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AI is now vital for intelligently identifying, clustering, and analyzing these flaky behaviors.</a:t>
              </a:r>
              <a:endParaRPr b="0" sz="13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88" name="Google Shape;8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500" y="15240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rofessional, high-tech conceptual illustration of Artificial Intelligence analyzing a stream of digital code. The style should be clean, corporate, and use subtle blue and white tones to match the 'image1' background reference." id="89" name="Google Shape;8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0" y="666750"/>
            <a:ext cx="2857500" cy="3810000"/>
          </a:xfrm>
          <a:prstGeom prst="roundRect">
            <a:avLst>
              <a:gd fmla="val 3333" name="adj"/>
            </a:avLst>
          </a:prstGeom>
          <a:noFill/>
          <a:ln>
            <a:noFill/>
          </a:ln>
        </p:spPr>
      </p:pic>
      <p:sp>
        <p:nvSpPr>
          <p:cNvPr id="90" name="Google Shape;90;p15"/>
          <p:cNvSpPr/>
          <p:nvPr/>
        </p:nvSpPr>
        <p:spPr>
          <a:xfrm>
            <a:off x="5905500" y="666750"/>
            <a:ext cx="2857500" cy="3810000"/>
          </a:xfrm>
          <a:prstGeom prst="roundRect">
            <a:avLst>
              <a:gd fmla="val 3333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E8F0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571500" y="476250"/>
            <a:ext cx="571500" cy="573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571500" y="666750"/>
            <a:ext cx="476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rPr>
              <a:t>What are Flaky Tests?</a:t>
            </a:r>
            <a:endParaRPr b="1" sz="3600">
              <a:solidFill>
                <a:srgbClr val="1A73E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>
            <a:off x="571500" y="1524000"/>
            <a:ext cx="4572000" cy="666900"/>
            <a:chOff x="0" y="0"/>
            <a:chExt cx="4572000" cy="666900"/>
          </a:xfrm>
        </p:grpSpPr>
        <p:sp>
          <p:nvSpPr>
            <p:cNvPr id="99" name="Google Shape;99;p16"/>
            <p:cNvSpPr/>
            <p:nvPr/>
          </p:nvSpPr>
          <p:spPr>
            <a:xfrm>
              <a:off x="0" y="0"/>
              <a:ext cx="4572000" cy="666900"/>
            </a:xfrm>
            <a:prstGeom prst="roundRect">
              <a:avLst>
                <a:gd fmla="val 11428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 txBox="1"/>
            <p:nvPr/>
          </p:nvSpPr>
          <p:spPr>
            <a:xfrm>
              <a:off x="190500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sync_problem</a:t>
              </a:r>
              <a:endParaRPr sz="24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714375" y="0"/>
              <a:ext cx="3667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85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Tests that pass and fail intermittently.</a:t>
              </a:r>
              <a:endParaRPr b="0" sz="1085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571500" y="2333625"/>
            <a:ext cx="4572000" cy="666900"/>
            <a:chOff x="0" y="0"/>
            <a:chExt cx="4572000" cy="666900"/>
          </a:xfrm>
        </p:grpSpPr>
        <p:sp>
          <p:nvSpPr>
            <p:cNvPr id="103" name="Google Shape;103;p16"/>
            <p:cNvSpPr/>
            <p:nvPr/>
          </p:nvSpPr>
          <p:spPr>
            <a:xfrm>
              <a:off x="0" y="0"/>
              <a:ext cx="4572000" cy="666900"/>
            </a:xfrm>
            <a:prstGeom prst="roundRect">
              <a:avLst>
                <a:gd fmla="val 11428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190500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code_off</a:t>
              </a:r>
              <a:endParaRPr sz="24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5" name="Google Shape;105;p16"/>
            <p:cNvSpPr txBox="1"/>
            <p:nvPr/>
          </p:nvSpPr>
          <p:spPr>
            <a:xfrm>
              <a:off x="714375" y="0"/>
              <a:ext cx="3667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85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Failures occur without changes to application code.</a:t>
              </a:r>
              <a:endParaRPr b="0" sz="1085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6" name="Google Shape;106;p16"/>
          <p:cNvGrpSpPr/>
          <p:nvPr/>
        </p:nvGrpSpPr>
        <p:grpSpPr>
          <a:xfrm>
            <a:off x="571500" y="3143250"/>
            <a:ext cx="4572000" cy="1238400"/>
            <a:chOff x="0" y="0"/>
            <a:chExt cx="4572000" cy="1238400"/>
          </a:xfrm>
        </p:grpSpPr>
        <p:sp>
          <p:nvSpPr>
            <p:cNvPr id="107" name="Google Shape;107;p16"/>
            <p:cNvSpPr/>
            <p:nvPr/>
          </p:nvSpPr>
          <p:spPr>
            <a:xfrm>
              <a:off x="0" y="0"/>
              <a:ext cx="4572000" cy="1238400"/>
            </a:xfrm>
            <a:prstGeom prst="roundRect">
              <a:avLst>
                <a:gd fmla="val 6153" name="adj"/>
              </a:avLst>
            </a:prstGeom>
            <a:solidFill>
              <a:srgbClr val="E8F0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190500" y="177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category</a:t>
              </a:r>
              <a:endParaRPr sz="24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9" name="Google Shape;109;p16"/>
            <p:cNvSpPr txBox="1"/>
            <p:nvPr/>
          </p:nvSpPr>
          <p:spPr>
            <a:xfrm>
              <a:off x="714375" y="142875"/>
              <a:ext cx="3667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85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Common Causes:</a:t>
              </a:r>
              <a:endParaRPr b="1" sz="1085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0833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5F6368"/>
                </a:buClr>
                <a:buSzPts val="1295"/>
                <a:buFont typeface="Roboto"/>
                <a:buChar char="●"/>
              </a:pPr>
              <a:r>
                <a:rPr b="0" lang="en" sz="111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Timing &amp; Network Instability</a:t>
              </a:r>
              <a:endParaRPr b="0" sz="111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0833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5F6368"/>
                </a:buClr>
                <a:buSzPts val="1295"/>
                <a:buFont typeface="Roboto"/>
                <a:buChar char="●"/>
              </a:pPr>
              <a:r>
                <a:rPr b="0" lang="en" sz="111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Environment Issues</a:t>
              </a:r>
              <a:endParaRPr b="0" sz="111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0833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5F6368"/>
                </a:buClr>
                <a:buSzPts val="1295"/>
                <a:buFont typeface="Roboto"/>
                <a:buChar char="●"/>
              </a:pPr>
              <a:r>
                <a:rPr b="0" lang="en" sz="111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Test Dependencies</a:t>
              </a:r>
              <a:endParaRPr b="0" sz="111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0" name="Google Shape;110;p16"/>
          <p:cNvGrpSpPr/>
          <p:nvPr/>
        </p:nvGrpSpPr>
        <p:grpSpPr>
          <a:xfrm>
            <a:off x="5524500" y="1143000"/>
            <a:ext cx="3048000" cy="3238500"/>
            <a:chOff x="0" y="0"/>
            <a:chExt cx="3048000" cy="3238500"/>
          </a:xfrm>
        </p:grpSpPr>
        <p:sp>
          <p:nvSpPr>
            <p:cNvPr id="111" name="Google Shape;111;p16"/>
            <p:cNvSpPr/>
            <p:nvPr/>
          </p:nvSpPr>
          <p:spPr>
            <a:xfrm>
              <a:off x="0" y="0"/>
              <a:ext cx="3048000" cy="3238500"/>
            </a:xfrm>
            <a:prstGeom prst="roundRect">
              <a:avLst>
                <a:gd fmla="val 3750" name="adj"/>
              </a:avLst>
            </a:prstGeom>
            <a:solidFill>
              <a:srgbClr val="F8F9FA"/>
            </a:solidFill>
            <a:ln cap="flat" cmpd="sng" w="19050">
              <a:solidFill>
                <a:srgbClr val="E8F0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0" y="190500"/>
              <a:ext cx="304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10">
                  <a:solidFill>
                    <a:srgbClr val="1A73E8"/>
                  </a:solidFill>
                  <a:latin typeface="Roboto"/>
                  <a:ea typeface="Roboto"/>
                  <a:cs typeface="Roboto"/>
                  <a:sym typeface="Roboto"/>
                </a:rPr>
                <a:t>VISUAL EXAMPLE: INTERMITTENCY</a:t>
              </a:r>
              <a:endParaRPr b="1" sz="111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13" name="Google Shape;113;p16"/>
            <p:cNvGrpSpPr/>
            <p:nvPr/>
          </p:nvGrpSpPr>
          <p:grpSpPr>
            <a:xfrm>
              <a:off x="285750" y="666750"/>
              <a:ext cx="2476500" cy="571500"/>
              <a:chOff x="0" y="0"/>
              <a:chExt cx="2476500" cy="571500"/>
            </a:xfrm>
          </p:grpSpPr>
          <p:sp>
            <p:nvSpPr>
              <p:cNvPr id="114" name="Google Shape;114;p16"/>
              <p:cNvSpPr/>
              <p:nvPr/>
            </p:nvSpPr>
            <p:spPr>
              <a:xfrm>
                <a:off x="0" y="0"/>
                <a:ext cx="2476500" cy="5715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8EAE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6"/>
              <p:cNvSpPr txBox="1"/>
              <p:nvPr/>
            </p:nvSpPr>
            <p:spPr>
              <a:xfrm>
                <a:off x="190500" y="95250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85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Run 1</a:t>
                </a:r>
                <a:endParaRPr b="1" sz="1085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16" name="Google Shape;116;p1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143000" y="276225"/>
                <a:ext cx="3810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7" name="Google Shape;117;p16"/>
              <p:cNvSpPr txBox="1"/>
              <p:nvPr/>
            </p:nvSpPr>
            <p:spPr>
              <a:xfrm>
                <a:off x="1714500" y="13030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34A853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check_circle</a:t>
                </a:r>
                <a:endParaRPr sz="2400">
                  <a:solidFill>
                    <a:srgbClr val="34A853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18" name="Google Shape;118;p16"/>
              <p:cNvSpPr txBox="1"/>
              <p:nvPr/>
            </p:nvSpPr>
            <p:spPr>
              <a:xfrm>
                <a:off x="2095500" y="9525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85">
                    <a:solidFill>
                      <a:srgbClr val="34A853"/>
                    </a:solidFill>
                    <a:latin typeface="Roboto"/>
                    <a:ea typeface="Roboto"/>
                    <a:cs typeface="Roboto"/>
                    <a:sym typeface="Roboto"/>
                  </a:rPr>
                  <a:t>PASS</a:t>
                </a:r>
                <a:endParaRPr b="1" sz="1085">
                  <a:solidFill>
                    <a:srgbClr val="34A85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9" name="Google Shape;119;p16"/>
            <p:cNvGrpSpPr/>
            <p:nvPr/>
          </p:nvGrpSpPr>
          <p:grpSpPr>
            <a:xfrm>
              <a:off x="285750" y="1428750"/>
              <a:ext cx="2476500" cy="571500"/>
              <a:chOff x="0" y="0"/>
              <a:chExt cx="2476500" cy="571500"/>
            </a:xfrm>
          </p:grpSpPr>
          <p:sp>
            <p:nvSpPr>
              <p:cNvPr id="120" name="Google Shape;120;p16"/>
              <p:cNvSpPr/>
              <p:nvPr/>
            </p:nvSpPr>
            <p:spPr>
              <a:xfrm>
                <a:off x="0" y="0"/>
                <a:ext cx="2476500" cy="571500"/>
              </a:xfrm>
              <a:prstGeom prst="roundRect">
                <a:avLst>
                  <a:gd fmla="val 10000" name="adj"/>
                </a:avLst>
              </a:prstGeom>
              <a:solidFill>
                <a:srgbClr val="FFF4F4"/>
              </a:solidFill>
              <a:ln cap="flat" cmpd="sng" w="9525">
                <a:solidFill>
                  <a:srgbClr val="FAD2C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6"/>
              <p:cNvSpPr txBox="1"/>
              <p:nvPr/>
            </p:nvSpPr>
            <p:spPr>
              <a:xfrm>
                <a:off x="190500" y="95250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85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Run 2</a:t>
                </a:r>
                <a:endParaRPr b="1" sz="1085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22" name="Google Shape;122;p1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143000" y="276225"/>
                <a:ext cx="3810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3" name="Google Shape;123;p16"/>
              <p:cNvSpPr txBox="1"/>
              <p:nvPr/>
            </p:nvSpPr>
            <p:spPr>
              <a:xfrm>
                <a:off x="1714500" y="13030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D93025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cancel</a:t>
                </a:r>
                <a:endParaRPr sz="2400">
                  <a:solidFill>
                    <a:srgbClr val="D93025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4" name="Google Shape;124;p16"/>
              <p:cNvSpPr txBox="1"/>
              <p:nvPr/>
            </p:nvSpPr>
            <p:spPr>
              <a:xfrm>
                <a:off x="2095500" y="9525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85">
                    <a:solidFill>
                      <a:srgbClr val="D93025"/>
                    </a:solidFill>
                    <a:latin typeface="Roboto"/>
                    <a:ea typeface="Roboto"/>
                    <a:cs typeface="Roboto"/>
                    <a:sym typeface="Roboto"/>
                  </a:rPr>
                  <a:t>FAIL</a:t>
                </a:r>
                <a:endParaRPr b="1" sz="1085">
                  <a:solidFill>
                    <a:srgbClr val="D93025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25" name="Google Shape;125;p16"/>
            <p:cNvGrpSpPr/>
            <p:nvPr/>
          </p:nvGrpSpPr>
          <p:grpSpPr>
            <a:xfrm>
              <a:off x="285750" y="2190750"/>
              <a:ext cx="2476500" cy="571500"/>
              <a:chOff x="0" y="0"/>
              <a:chExt cx="2476500" cy="571500"/>
            </a:xfrm>
          </p:grpSpPr>
          <p:sp>
            <p:nvSpPr>
              <p:cNvPr id="126" name="Google Shape;126;p16"/>
              <p:cNvSpPr/>
              <p:nvPr/>
            </p:nvSpPr>
            <p:spPr>
              <a:xfrm>
                <a:off x="0" y="0"/>
                <a:ext cx="2476500" cy="5715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8EAE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6"/>
              <p:cNvSpPr txBox="1"/>
              <p:nvPr/>
            </p:nvSpPr>
            <p:spPr>
              <a:xfrm>
                <a:off x="190500" y="95250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85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Run 3</a:t>
                </a:r>
                <a:endParaRPr b="1" sz="1085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pic>
            <p:nvPicPr>
              <p:cNvPr id="128" name="Google Shape;128;p1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143000" y="276225"/>
                <a:ext cx="3810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" name="Google Shape;129;p16"/>
              <p:cNvSpPr txBox="1"/>
              <p:nvPr/>
            </p:nvSpPr>
            <p:spPr>
              <a:xfrm>
                <a:off x="1714500" y="13030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34A853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check_circle</a:t>
                </a:r>
                <a:endParaRPr sz="2400">
                  <a:solidFill>
                    <a:srgbClr val="34A853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30" name="Google Shape;130;p16"/>
              <p:cNvSpPr txBox="1"/>
              <p:nvPr/>
            </p:nvSpPr>
            <p:spPr>
              <a:xfrm>
                <a:off x="2095500" y="9525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85">
                    <a:solidFill>
                      <a:srgbClr val="34A853"/>
                    </a:solidFill>
                    <a:latin typeface="Roboto"/>
                    <a:ea typeface="Roboto"/>
                    <a:cs typeface="Roboto"/>
                    <a:sym typeface="Roboto"/>
                  </a:rPr>
                  <a:t>PASS</a:t>
                </a:r>
                <a:endParaRPr b="1" sz="1085">
                  <a:solidFill>
                    <a:srgbClr val="34A85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31" name="Google Shape;131;p16"/>
            <p:cNvSpPr txBox="1"/>
            <p:nvPr/>
          </p:nvSpPr>
          <p:spPr>
            <a:xfrm>
              <a:off x="0" y="2857500"/>
              <a:ext cx="3048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00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Identical code, inconsistent outcomes</a:t>
              </a:r>
              <a:endParaRPr b="0" i="1" sz="10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71500" y="476250"/>
            <a:ext cx="571500" cy="573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666750"/>
            <a:ext cx="571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2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rPr>
              <a:t>Challenges Caused by Flaky Tests</a:t>
            </a:r>
            <a:endParaRPr b="1" sz="2720">
              <a:solidFill>
                <a:srgbClr val="1A73E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9" name="Google Shape;139;p17"/>
          <p:cNvGrpSpPr/>
          <p:nvPr/>
        </p:nvGrpSpPr>
        <p:grpSpPr>
          <a:xfrm>
            <a:off x="571500" y="1524000"/>
            <a:ext cx="2476500" cy="857400"/>
            <a:chOff x="0" y="0"/>
            <a:chExt cx="2476500" cy="857400"/>
          </a:xfrm>
        </p:grpSpPr>
        <p:sp>
          <p:nvSpPr>
            <p:cNvPr id="140" name="Google Shape;140;p17"/>
            <p:cNvSpPr/>
            <p:nvPr/>
          </p:nvSpPr>
          <p:spPr>
            <a:xfrm>
              <a:off x="0" y="0"/>
              <a:ext cx="2476500" cy="857400"/>
            </a:xfrm>
            <a:prstGeom prst="roundRect">
              <a:avLst>
                <a:gd fmla="val 8888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142875" y="273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bug_report</a:t>
              </a:r>
              <a:endParaRPr sz="24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619125" y="142875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2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Increased Debugging Effort</a:t>
              </a:r>
              <a:endParaRPr b="1" sz="102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Inconsistent failures require deep manual investigation.</a:t>
              </a:r>
              <a:endParaRPr b="0" sz="85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3" name="Google Shape;143;p17"/>
          <p:cNvGrpSpPr/>
          <p:nvPr/>
        </p:nvGrpSpPr>
        <p:grpSpPr>
          <a:xfrm>
            <a:off x="571500" y="2524125"/>
            <a:ext cx="2476500" cy="857400"/>
            <a:chOff x="0" y="0"/>
            <a:chExt cx="2476500" cy="857400"/>
          </a:xfrm>
        </p:grpSpPr>
        <p:sp>
          <p:nvSpPr>
            <p:cNvPr id="144" name="Google Shape;144;p17"/>
            <p:cNvSpPr/>
            <p:nvPr/>
          </p:nvSpPr>
          <p:spPr>
            <a:xfrm>
              <a:off x="0" y="0"/>
              <a:ext cx="2476500" cy="857400"/>
            </a:xfrm>
            <a:prstGeom prst="roundRect">
              <a:avLst>
                <a:gd fmla="val 8888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142875" y="273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sentiment_dissatisfied</a:t>
              </a:r>
              <a:endParaRPr sz="24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6" name="Google Shape;146;p17"/>
            <p:cNvSpPr txBox="1"/>
            <p:nvPr/>
          </p:nvSpPr>
          <p:spPr>
            <a:xfrm>
              <a:off x="619125" y="142875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2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Reduced Confidence</a:t>
              </a:r>
              <a:endParaRPr b="1" sz="102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Teams ignore test results, leading to "false negatives."</a:t>
              </a:r>
              <a:endParaRPr b="0" sz="85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7" name="Google Shape;147;p17"/>
          <p:cNvGrpSpPr/>
          <p:nvPr/>
        </p:nvGrpSpPr>
        <p:grpSpPr>
          <a:xfrm>
            <a:off x="571500" y="3524250"/>
            <a:ext cx="2476500" cy="857400"/>
            <a:chOff x="0" y="0"/>
            <a:chExt cx="2476500" cy="857400"/>
          </a:xfrm>
        </p:grpSpPr>
        <p:sp>
          <p:nvSpPr>
            <p:cNvPr id="148" name="Google Shape;148;p17"/>
            <p:cNvSpPr/>
            <p:nvPr/>
          </p:nvSpPr>
          <p:spPr>
            <a:xfrm>
              <a:off x="0" y="0"/>
              <a:ext cx="2476500" cy="857400"/>
            </a:xfrm>
            <a:prstGeom prst="roundRect">
              <a:avLst>
                <a:gd fmla="val 8888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142875" y="273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24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0" name="Google Shape;150;p17"/>
            <p:cNvSpPr txBox="1"/>
            <p:nvPr/>
          </p:nvSpPr>
          <p:spPr>
            <a:xfrm>
              <a:off x="619125" y="142875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2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CI/CD Pipeline Delays</a:t>
              </a:r>
              <a:endParaRPr b="1" sz="102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Repeated executions slow down release cycles.</a:t>
              </a:r>
              <a:endParaRPr b="0" sz="85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1" name="Google Shape;151;p17"/>
          <p:cNvGrpSpPr/>
          <p:nvPr/>
        </p:nvGrpSpPr>
        <p:grpSpPr>
          <a:xfrm>
            <a:off x="3238500" y="1524000"/>
            <a:ext cx="2476500" cy="857400"/>
            <a:chOff x="0" y="0"/>
            <a:chExt cx="2476500" cy="857400"/>
          </a:xfrm>
        </p:grpSpPr>
        <p:sp>
          <p:nvSpPr>
            <p:cNvPr id="152" name="Google Shape;152;p17"/>
            <p:cNvSpPr/>
            <p:nvPr/>
          </p:nvSpPr>
          <p:spPr>
            <a:xfrm>
              <a:off x="0" y="0"/>
              <a:ext cx="2476500" cy="857400"/>
            </a:xfrm>
            <a:prstGeom prst="roundRect">
              <a:avLst>
                <a:gd fmla="val 8888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 txBox="1"/>
            <p:nvPr/>
          </p:nvSpPr>
          <p:spPr>
            <a:xfrm>
              <a:off x="142875" y="273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build</a:t>
              </a:r>
              <a:endParaRPr sz="24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619125" y="142875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2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Higher Maintenance</a:t>
              </a:r>
              <a:endParaRPr b="1" sz="102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Constant updates to test scripts without code changes.</a:t>
              </a:r>
              <a:endParaRPr b="0" sz="85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5" name="Google Shape;155;p17"/>
          <p:cNvGrpSpPr/>
          <p:nvPr/>
        </p:nvGrpSpPr>
        <p:grpSpPr>
          <a:xfrm>
            <a:off x="3238500" y="2524125"/>
            <a:ext cx="2476500" cy="857400"/>
            <a:chOff x="0" y="0"/>
            <a:chExt cx="2476500" cy="857400"/>
          </a:xfrm>
        </p:grpSpPr>
        <p:sp>
          <p:nvSpPr>
            <p:cNvPr id="156" name="Google Shape;156;p17"/>
            <p:cNvSpPr/>
            <p:nvPr/>
          </p:nvSpPr>
          <p:spPr>
            <a:xfrm>
              <a:off x="0" y="0"/>
              <a:ext cx="2476500" cy="857400"/>
            </a:xfrm>
            <a:prstGeom prst="roundRect">
              <a:avLst>
                <a:gd fmla="val 8888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142875" y="273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search_off</a:t>
              </a:r>
              <a:endParaRPr sz="24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619125" y="142875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2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Defect Masking</a:t>
              </a:r>
              <a:endParaRPr b="1" sz="102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Harder to distinguish flakes from real application bugs.</a:t>
              </a:r>
              <a:endParaRPr b="0" sz="85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9" name="Google Shape;159;p17"/>
          <p:cNvGrpSpPr/>
          <p:nvPr/>
        </p:nvGrpSpPr>
        <p:grpSpPr>
          <a:xfrm>
            <a:off x="6000750" y="666750"/>
            <a:ext cx="2857500" cy="4000500"/>
            <a:chOff x="0" y="0"/>
            <a:chExt cx="2857500" cy="4000500"/>
          </a:xfrm>
        </p:grpSpPr>
        <p:sp>
          <p:nvSpPr>
            <p:cNvPr id="160" name="Google Shape;160;p17"/>
            <p:cNvSpPr/>
            <p:nvPr/>
          </p:nvSpPr>
          <p:spPr>
            <a:xfrm>
              <a:off x="0" y="0"/>
              <a:ext cx="2857500" cy="4000500"/>
            </a:xfrm>
            <a:prstGeom prst="roundRect">
              <a:avLst>
                <a:gd fmla="val 4000" name="adj"/>
              </a:avLst>
            </a:prstGeom>
            <a:solidFill>
              <a:srgbClr val="E8F0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professional conceptual image showing a clock with a cracked digital interface and falling code blocks, symbolizing delays and quality erosion in software development. Blue and white corporate style." id="161" name="Google Shape;161;p17"/>
            <p:cNvPicPr preferRelativeResize="0"/>
            <p:nvPr/>
          </p:nvPicPr>
          <p:blipFill rotWithShape="1">
            <a:blip r:embed="rId3">
              <a:alphaModFix/>
            </a:blip>
            <a:srcRect b="0" l="2381" r="2381" t="0"/>
            <a:stretch/>
          </p:blipFill>
          <p:spPr>
            <a:xfrm>
              <a:off x="0" y="0"/>
              <a:ext cx="2857500" cy="4000500"/>
            </a:xfrm>
            <a:prstGeom prst="roundRect">
              <a:avLst>
                <a:gd fmla="val 4000" name="adj"/>
              </a:avLst>
            </a:prstGeom>
            <a:noFill/>
            <a:ln>
              <a:noFill/>
            </a:ln>
          </p:spPr>
        </p:pic>
        <p:sp>
          <p:nvSpPr>
            <p:cNvPr id="162" name="Google Shape;162;p17"/>
            <p:cNvSpPr/>
            <p:nvPr/>
          </p:nvSpPr>
          <p:spPr>
            <a:xfrm>
              <a:off x="0" y="2857500"/>
              <a:ext cx="2857500" cy="11430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190500" y="3000375"/>
              <a:ext cx="2476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Roboto"/>
                  <a:ea typeface="Roboto"/>
                  <a:cs typeface="Roboto"/>
                  <a:sym typeface="Roboto"/>
                </a:rPr>
                <a:t>IMPACT SUMMARY</a:t>
              </a:r>
              <a:endParaRPr b="1" sz="140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Erosion of software quality and extended release timelines due to testing friction.</a:t>
              </a:r>
              <a:endParaRPr b="0" sz="11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476250"/>
            <a:ext cx="571500" cy="573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9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rPr>
              <a:t>Traditional Approaches to Flaky Test Detection</a:t>
            </a:r>
            <a:endParaRPr b="1" sz="2790">
              <a:solidFill>
                <a:srgbClr val="1A73E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1" name="Google Shape;171;p18"/>
          <p:cNvGrpSpPr/>
          <p:nvPr/>
        </p:nvGrpSpPr>
        <p:grpSpPr>
          <a:xfrm>
            <a:off x="571500" y="1428750"/>
            <a:ext cx="5238900" cy="3333900"/>
            <a:chOff x="571500" y="1428750"/>
            <a:chExt cx="5238900" cy="3333900"/>
          </a:xfrm>
        </p:grpSpPr>
        <p:pic>
          <p:nvPicPr>
            <p:cNvPr id="172" name="Google Shape;172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1500" y="1428750"/>
              <a:ext cx="5238900" cy="3333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8"/>
            <p:cNvSpPr txBox="1"/>
            <p:nvPr/>
          </p:nvSpPr>
          <p:spPr>
            <a:xfrm>
              <a:off x="762000" y="161925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Common Manual Methods</a:t>
              </a:r>
              <a:endParaRPr b="1" sz="14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74" name="Google Shape;174;p18"/>
            <p:cNvGrpSpPr/>
            <p:nvPr/>
          </p:nvGrpSpPr>
          <p:grpSpPr>
            <a:xfrm>
              <a:off x="757238" y="1995488"/>
              <a:ext cx="2295600" cy="771600"/>
              <a:chOff x="757238" y="1995488"/>
              <a:chExt cx="2295600" cy="771600"/>
            </a:xfrm>
          </p:grpSpPr>
          <p:pic>
            <p:nvPicPr>
              <p:cNvPr id="175" name="Google Shape;175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57238" y="1995488"/>
                <a:ext cx="2295600" cy="771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6" name="Google Shape;176;p18"/>
              <p:cNvSpPr txBox="1"/>
              <p:nvPr/>
            </p:nvSpPr>
            <p:spPr>
              <a:xfrm>
                <a:off x="857250" y="227342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73E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replay</a:t>
                </a:r>
                <a:endParaRPr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77" name="Google Shape;177;p18"/>
              <p:cNvSpPr txBox="1"/>
              <p:nvPr/>
            </p:nvSpPr>
            <p:spPr>
              <a:xfrm>
                <a:off x="1333500" y="2095500"/>
                <a:ext cx="16191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Repeated Execution</a:t>
                </a:r>
                <a:br>
                  <a:rPr b="0" lang="en" sz="110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lang="en" sz="110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Re-running failed test cases multiple times.</a:t>
                </a:r>
                <a:endParaRPr b="0" sz="110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78" name="Google Shape;178;p18"/>
            <p:cNvGrpSpPr/>
            <p:nvPr/>
          </p:nvGrpSpPr>
          <p:grpSpPr>
            <a:xfrm>
              <a:off x="3138488" y="1995488"/>
              <a:ext cx="2486100" cy="771600"/>
              <a:chOff x="3138488" y="1995488"/>
              <a:chExt cx="2486100" cy="771600"/>
            </a:xfrm>
          </p:grpSpPr>
          <p:pic>
            <p:nvPicPr>
              <p:cNvPr id="179" name="Google Shape;179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38488" y="1995488"/>
                <a:ext cx="2486100" cy="771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0" name="Google Shape;180;p18"/>
              <p:cNvSpPr txBox="1"/>
              <p:nvPr/>
            </p:nvSpPr>
            <p:spPr>
              <a:xfrm>
                <a:off x="3238500" y="227342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73E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assessment</a:t>
                </a:r>
                <a:endParaRPr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81" name="Google Shape;181;p18"/>
              <p:cNvSpPr txBox="1"/>
              <p:nvPr/>
            </p:nvSpPr>
            <p:spPr>
              <a:xfrm>
                <a:off x="3714750" y="2095500"/>
                <a:ext cx="18096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Report Review</a:t>
                </a:r>
                <a:br>
                  <a:rPr b="0" lang="en" sz="110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lang="en" sz="110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Reviewing test execution reports and dashboards.</a:t>
                </a:r>
                <a:endParaRPr b="0" sz="110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82" name="Google Shape;182;p18"/>
            <p:cNvGrpSpPr/>
            <p:nvPr/>
          </p:nvGrpSpPr>
          <p:grpSpPr>
            <a:xfrm>
              <a:off x="757238" y="2852738"/>
              <a:ext cx="2295600" cy="771600"/>
              <a:chOff x="757238" y="2852738"/>
              <a:chExt cx="2295600" cy="771600"/>
            </a:xfrm>
          </p:grpSpPr>
          <p:pic>
            <p:nvPicPr>
              <p:cNvPr id="183" name="Google Shape;183;p1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57238" y="2852738"/>
                <a:ext cx="2295600" cy="771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4" name="Google Shape;184;p18"/>
              <p:cNvSpPr txBox="1"/>
              <p:nvPr/>
            </p:nvSpPr>
            <p:spPr>
              <a:xfrm>
                <a:off x="857250" y="313067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73E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terminal</a:t>
                </a:r>
                <a:endParaRPr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85" name="Google Shape;185;p18"/>
              <p:cNvSpPr txBox="1"/>
              <p:nvPr/>
            </p:nvSpPr>
            <p:spPr>
              <a:xfrm>
                <a:off x="1333500" y="2952750"/>
                <a:ext cx="16191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Log Analysis</a:t>
                </a:r>
                <a:br>
                  <a:rPr b="0" lang="en" sz="110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lang="en" sz="110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Analyzing logs, traces, and screenshots.</a:t>
                </a:r>
                <a:endParaRPr b="0" sz="110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86" name="Google Shape;186;p18"/>
            <p:cNvGrpSpPr/>
            <p:nvPr/>
          </p:nvGrpSpPr>
          <p:grpSpPr>
            <a:xfrm>
              <a:off x="3138488" y="2852738"/>
              <a:ext cx="2486100" cy="771600"/>
              <a:chOff x="3138488" y="2852738"/>
              <a:chExt cx="2486100" cy="771600"/>
            </a:xfrm>
          </p:grpSpPr>
          <p:pic>
            <p:nvPicPr>
              <p:cNvPr id="187" name="Google Shape;187;p1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138488" y="2852738"/>
                <a:ext cx="2486100" cy="771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8" name="Google Shape;188;p18"/>
              <p:cNvSpPr txBox="1"/>
              <p:nvPr/>
            </p:nvSpPr>
            <p:spPr>
              <a:xfrm>
                <a:off x="3238500" y="313067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73E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history</a:t>
                </a:r>
                <a:endParaRPr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89" name="Google Shape;189;p18"/>
              <p:cNvSpPr txBox="1"/>
              <p:nvPr/>
            </p:nvSpPr>
            <p:spPr>
              <a:xfrm>
                <a:off x="3714750" y="2952750"/>
                <a:ext cx="18096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Historical Comparison</a:t>
                </a:r>
                <a:br>
                  <a:rPr b="0" lang="en" sz="110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lang="en" sz="110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Comparing results across past test runs.</a:t>
                </a:r>
                <a:endParaRPr b="0" sz="110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90" name="Google Shape;190;p18"/>
            <p:cNvGrpSpPr/>
            <p:nvPr/>
          </p:nvGrpSpPr>
          <p:grpSpPr>
            <a:xfrm>
              <a:off x="757238" y="3709988"/>
              <a:ext cx="4867200" cy="771600"/>
              <a:chOff x="757238" y="3709988"/>
              <a:chExt cx="4867200" cy="771600"/>
            </a:xfrm>
          </p:grpSpPr>
          <p:pic>
            <p:nvPicPr>
              <p:cNvPr id="191" name="Google Shape;191;p1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57238" y="3709988"/>
                <a:ext cx="4867200" cy="771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2" name="Google Shape;192;p18"/>
              <p:cNvSpPr txBox="1"/>
              <p:nvPr/>
            </p:nvSpPr>
            <p:spPr>
              <a:xfrm>
                <a:off x="1047750" y="394030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73E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settings_input_component</a:t>
                </a:r>
                <a:endParaRPr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93" name="Google Shape;193;p18"/>
              <p:cNvSpPr txBox="1"/>
              <p:nvPr/>
            </p:nvSpPr>
            <p:spPr>
              <a:xfrm>
                <a:off x="1524000" y="3810000"/>
                <a:ext cx="39054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Environmental Investigation</a:t>
                </a:r>
                <a:br>
                  <a:rPr b="0" lang="en" sz="110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</a:br>
                <a:r>
                  <a:rPr b="0" lang="en" sz="110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Investigating infrastructure, network, or timing-related issues manually.</a:t>
                </a:r>
                <a:endParaRPr b="0" sz="110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94" name="Google Shape;194;p18"/>
          <p:cNvGrpSpPr/>
          <p:nvPr/>
        </p:nvGrpSpPr>
        <p:grpSpPr>
          <a:xfrm>
            <a:off x="6000750" y="1428750"/>
            <a:ext cx="2571900" cy="3333900"/>
            <a:chOff x="6000750" y="1428750"/>
            <a:chExt cx="2571900" cy="3333900"/>
          </a:xfrm>
        </p:grpSpPr>
        <p:pic>
          <p:nvPicPr>
            <p:cNvPr id="195" name="Google Shape;195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000750" y="1428750"/>
              <a:ext cx="2571900" cy="3333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18"/>
            <p:cNvSpPr txBox="1"/>
            <p:nvPr/>
          </p:nvSpPr>
          <p:spPr>
            <a:xfrm>
              <a:off x="6191250" y="1619250"/>
              <a:ext cx="219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93025"/>
                  </a:solidFill>
                  <a:latin typeface="Roboto"/>
                  <a:ea typeface="Roboto"/>
                  <a:cs typeface="Roboto"/>
                  <a:sym typeface="Roboto"/>
                </a:rPr>
                <a:t>LIMITATIONS</a:t>
              </a:r>
              <a:endParaRPr b="1" sz="1200">
                <a:solidFill>
                  <a:srgbClr val="D9302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" name="Google Shape;197;p18"/>
            <p:cNvSpPr txBox="1"/>
            <p:nvPr/>
          </p:nvSpPr>
          <p:spPr>
            <a:xfrm>
              <a:off x="6191250" y="2000250"/>
              <a:ext cx="2190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1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Time-consuming:</a:t>
              </a:r>
              <a:r>
                <a:rPr b="0" lang="en" sz="11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 Manual triage significantly slows down CI/CD cycles.</a:t>
              </a:r>
              <a:endParaRPr b="0" sz="11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1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Resource Intensive:</a:t>
              </a:r>
              <a:r>
                <a:rPr b="0" lang="en" sz="11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 Requires deep technical effort from engineers.</a:t>
              </a:r>
              <a:endParaRPr b="0" sz="11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SzPts val="1400"/>
                <a:buChar char="●"/>
              </a:pPr>
              <a:r>
                <a:rPr b="1" lang="en" sz="11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Scalability Gap:</a:t>
              </a:r>
              <a:r>
                <a:rPr b="0" lang="en" sz="11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 Impossible to sustain for large-scale automation suites.</a:t>
              </a:r>
              <a:endParaRPr b="0" sz="11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98" name="Google Shape;198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000750" y="1900238"/>
              <a:ext cx="2571900" cy="9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571500" y="476250"/>
            <a:ext cx="571500" cy="573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rPr>
              <a:t>How AI is Applied in Flaky Test Detection</a:t>
            </a:r>
            <a:endParaRPr b="1" sz="2800">
              <a:solidFill>
                <a:srgbClr val="1A73E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571500" y="1428750"/>
            <a:ext cx="4572000" cy="1428900"/>
          </a:xfrm>
          <a:prstGeom prst="roundRect">
            <a:avLst>
              <a:gd fmla="val 5333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62000" y="1619250"/>
            <a:ext cx="4191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2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AI identifies flaky tests by analyzing historical execution data to recognize hidden patterns.</a:t>
            </a:r>
            <a:endParaRPr b="0" sz="102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3370" lvl="0" marL="457200" rtl="0" algn="l">
              <a:spcBef>
                <a:spcPts val="900"/>
              </a:spcBef>
              <a:spcAft>
                <a:spcPts val="0"/>
              </a:spcAft>
              <a:buClr>
                <a:srgbClr val="5F6368"/>
              </a:buClr>
              <a:buSzPts val="1020"/>
              <a:buFont typeface="Roboto"/>
              <a:buChar char="●"/>
            </a:pPr>
            <a:r>
              <a:rPr b="0" lang="en" sz="102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Analyze test execution history.</a:t>
            </a:r>
            <a:endParaRPr b="0" sz="102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3370" lvl="0" marL="457200" rtl="0" algn="l">
              <a:spcBef>
                <a:spcPts val="600"/>
              </a:spcBef>
              <a:spcAft>
                <a:spcPts val="0"/>
              </a:spcAft>
              <a:buClr>
                <a:srgbClr val="5F6368"/>
              </a:buClr>
              <a:buSzPts val="1020"/>
              <a:buFont typeface="Roboto"/>
              <a:buChar char="●"/>
            </a:pPr>
            <a:r>
              <a:rPr b="0" lang="en" sz="102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Detect inconsistent test behavior.</a:t>
            </a:r>
            <a:endParaRPr b="0" sz="102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3370" lvl="0" marL="457200" rtl="0" algn="l">
              <a:spcBef>
                <a:spcPts val="600"/>
              </a:spcBef>
              <a:spcAft>
                <a:spcPts val="600"/>
              </a:spcAft>
              <a:buClr>
                <a:srgbClr val="5F6368"/>
              </a:buClr>
              <a:buSzPts val="1020"/>
              <a:buFont typeface="Roboto"/>
              <a:buChar char="●"/>
            </a:pPr>
            <a:r>
              <a:rPr b="0" lang="en" sz="102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Identify recurring failure patterns.</a:t>
            </a:r>
            <a:endParaRPr b="0" sz="102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571500" y="3000375"/>
            <a:ext cx="2190900" cy="1476300"/>
          </a:xfrm>
          <a:prstGeom prst="roundRect">
            <a:avLst>
              <a:gd fmla="val 5161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14375" y="3143250"/>
            <a:ext cx="19050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5F6368"/>
              </a:buClr>
              <a:buSzPts val="1020"/>
              <a:buFont typeface="Roboto"/>
              <a:buChar char="●"/>
            </a:pPr>
            <a:r>
              <a:rPr b="0" lang="en" sz="102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Classify failures based on similarity.</a:t>
            </a:r>
            <a:endParaRPr b="0" sz="102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3370" lvl="0" marL="457200" rtl="0" algn="l">
              <a:spcBef>
                <a:spcPts val="600"/>
              </a:spcBef>
              <a:spcAft>
                <a:spcPts val="600"/>
              </a:spcAft>
              <a:buClr>
                <a:srgbClr val="5F6368"/>
              </a:buClr>
              <a:buSzPts val="1020"/>
              <a:buFont typeface="Roboto"/>
              <a:buChar char="●"/>
            </a:pPr>
            <a:r>
              <a:rPr b="0" lang="en" sz="102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Assist in root cause investigation.</a:t>
            </a:r>
            <a:endParaRPr b="0" sz="102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0" name="Google Shape;210;p19"/>
          <p:cNvGrpSpPr/>
          <p:nvPr/>
        </p:nvGrpSpPr>
        <p:grpSpPr>
          <a:xfrm>
            <a:off x="2952750" y="3000375"/>
            <a:ext cx="5715000" cy="1476300"/>
            <a:chOff x="2952750" y="3000375"/>
            <a:chExt cx="5715000" cy="1476300"/>
          </a:xfrm>
        </p:grpSpPr>
        <p:sp>
          <p:nvSpPr>
            <p:cNvPr id="211" name="Google Shape;211;p19"/>
            <p:cNvSpPr/>
            <p:nvPr/>
          </p:nvSpPr>
          <p:spPr>
            <a:xfrm>
              <a:off x="2952750" y="3000375"/>
              <a:ext cx="5715000" cy="1476300"/>
            </a:xfrm>
            <a:prstGeom prst="roundRect">
              <a:avLst>
                <a:gd fmla="val 7741" name="adj"/>
              </a:avLst>
            </a:prstGeom>
            <a:solidFill>
              <a:srgbClr val="F8F9FA"/>
            </a:solidFill>
            <a:ln cap="flat" cmpd="sng" w="19050">
              <a:solidFill>
                <a:srgbClr val="E8F0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9"/>
            <p:cNvSpPr txBox="1"/>
            <p:nvPr/>
          </p:nvSpPr>
          <p:spPr>
            <a:xfrm>
              <a:off x="3048000" y="3095625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73E8"/>
                  </a:solidFill>
                  <a:latin typeface="Roboto"/>
                  <a:ea typeface="Roboto"/>
                  <a:cs typeface="Roboto"/>
                  <a:sym typeface="Roboto"/>
                </a:rPr>
                <a:t>Test Results</a:t>
              </a:r>
              <a:endParaRPr b="1" sz="110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4143375" y="3095625"/>
              <a:ext cx="114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73E8"/>
                  </a:solidFill>
                  <a:latin typeface="Roboto"/>
                  <a:ea typeface="Roboto"/>
                  <a:cs typeface="Roboto"/>
                  <a:sym typeface="Roboto"/>
                </a:rPr>
                <a:t>Historical Data</a:t>
              </a:r>
              <a:endParaRPr b="1" sz="110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4" name="Google Shape;214;p19"/>
            <p:cNvSpPr txBox="1"/>
            <p:nvPr/>
          </p:nvSpPr>
          <p:spPr>
            <a:xfrm>
              <a:off x="5476875" y="3095625"/>
              <a:ext cx="1238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73E8"/>
                  </a:solidFill>
                  <a:latin typeface="Roboto"/>
                  <a:ea typeface="Roboto"/>
                  <a:cs typeface="Roboto"/>
                  <a:sym typeface="Roboto"/>
                </a:rPr>
                <a:t>AI Pattern Recognition</a:t>
              </a:r>
              <a:endParaRPr b="1" sz="110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5" name="Google Shape;215;p19"/>
            <p:cNvSpPr txBox="1"/>
            <p:nvPr/>
          </p:nvSpPr>
          <p:spPr>
            <a:xfrm>
              <a:off x="6905625" y="3095625"/>
              <a:ext cx="95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73E8"/>
                  </a:solidFill>
                  <a:latin typeface="Roboto"/>
                  <a:ea typeface="Roboto"/>
                  <a:cs typeface="Roboto"/>
                  <a:sym typeface="Roboto"/>
                </a:rPr>
                <a:t>Flaky Detection</a:t>
              </a:r>
              <a:endParaRPr b="1" sz="110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8048625" y="3095625"/>
              <a:ext cx="523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A73E8"/>
                  </a:solidFill>
                  <a:latin typeface="Roboto"/>
                  <a:ea typeface="Roboto"/>
                  <a:cs typeface="Roboto"/>
                  <a:sym typeface="Roboto"/>
                </a:rPr>
                <a:t>Insights</a:t>
              </a:r>
              <a:endParaRPr b="1" sz="110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7" name="Google Shape;217;p19"/>
            <p:cNvSpPr/>
            <p:nvPr/>
          </p:nvSpPr>
          <p:spPr>
            <a:xfrm>
              <a:off x="3257550" y="3590925"/>
              <a:ext cx="533400" cy="5334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E8F0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9"/>
            <p:cNvSpPr txBox="1"/>
            <p:nvPr/>
          </p:nvSpPr>
          <p:spPr>
            <a:xfrm>
              <a:off x="3333750" y="3702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 sz="24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pic>
          <p:nvPicPr>
            <p:cNvPr id="219" name="Google Shape;219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57625" y="3848100"/>
              <a:ext cx="1905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p19"/>
            <p:cNvSpPr/>
            <p:nvPr/>
          </p:nvSpPr>
          <p:spPr>
            <a:xfrm>
              <a:off x="4448175" y="3590925"/>
              <a:ext cx="533400" cy="5334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E8F0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9"/>
            <p:cNvSpPr txBox="1"/>
            <p:nvPr/>
          </p:nvSpPr>
          <p:spPr>
            <a:xfrm>
              <a:off x="4524375" y="3702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4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pic>
          <p:nvPicPr>
            <p:cNvPr id="222" name="Google Shape;22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48250" y="3848100"/>
              <a:ext cx="3240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19"/>
            <p:cNvSpPr/>
            <p:nvPr/>
          </p:nvSpPr>
          <p:spPr>
            <a:xfrm>
              <a:off x="5791200" y="3552825"/>
              <a:ext cx="609600" cy="6096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9"/>
            <p:cNvSpPr txBox="1"/>
            <p:nvPr/>
          </p:nvSpPr>
          <p:spPr>
            <a:xfrm>
              <a:off x="5905500" y="3702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pic>
          <p:nvPicPr>
            <p:cNvPr id="225" name="Google Shape;225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7000" y="3848100"/>
              <a:ext cx="3240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19"/>
            <p:cNvSpPr/>
            <p:nvPr/>
          </p:nvSpPr>
          <p:spPr>
            <a:xfrm>
              <a:off x="7115175" y="3590925"/>
              <a:ext cx="533400" cy="5334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E8F0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9"/>
            <p:cNvSpPr txBox="1"/>
            <p:nvPr/>
          </p:nvSpPr>
          <p:spPr>
            <a:xfrm>
              <a:off x="7191375" y="3702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troubleshoot</a:t>
              </a:r>
              <a:endParaRPr sz="24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pic>
          <p:nvPicPr>
            <p:cNvPr id="228" name="Google Shape;228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715250" y="3848100"/>
              <a:ext cx="2667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19"/>
            <p:cNvSpPr/>
            <p:nvPr/>
          </p:nvSpPr>
          <p:spPr>
            <a:xfrm>
              <a:off x="8020050" y="3590925"/>
              <a:ext cx="533400" cy="5334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E8F0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8096250" y="3702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endParaRPr sz="24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pic>
        <p:nvPicPr>
          <p:cNvPr descr="A clean, minimalist 3D render of a neural network glowing in shades of blue and white, representing data analysis and pattern recognition in a corporate tech environment." id="231" name="Google Shape;231;p19"/>
          <p:cNvPicPr preferRelativeResize="0"/>
          <p:nvPr/>
        </p:nvPicPr>
        <p:blipFill rotWithShape="1">
          <a:blip r:embed="rId6">
            <a:alphaModFix/>
          </a:blip>
          <a:srcRect b="-141647" l="0" r="0" t="8329"/>
          <a:stretch/>
        </p:blipFill>
        <p:spPr>
          <a:xfrm>
            <a:off x="5619750" y="1428750"/>
            <a:ext cx="3048000" cy="40005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571500" y="476250"/>
            <a:ext cx="571500" cy="573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8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rPr>
              <a:t>Real-World Example</a:t>
            </a:r>
            <a:endParaRPr b="1" sz="2380">
              <a:solidFill>
                <a:srgbClr val="1A73E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571500" y="1285875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rPr>
              <a:t>A login test is executed multiple times during automated regression testing. Although no changes have been made to the application code, the test produces inconsistent results.</a:t>
            </a:r>
            <a:endParaRPr b="0" sz="1100">
              <a:solidFill>
                <a:srgbClr val="5F636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40" name="Google Shape;240;p20"/>
          <p:cNvGrpSpPr/>
          <p:nvPr/>
        </p:nvGrpSpPr>
        <p:grpSpPr>
          <a:xfrm>
            <a:off x="571500" y="1905000"/>
            <a:ext cx="2095500" cy="2667000"/>
            <a:chOff x="571500" y="1905000"/>
            <a:chExt cx="2095500" cy="2667000"/>
          </a:xfrm>
        </p:grpSpPr>
        <p:sp>
          <p:nvSpPr>
            <p:cNvPr id="241" name="Google Shape;241;p20"/>
            <p:cNvSpPr/>
            <p:nvPr/>
          </p:nvSpPr>
          <p:spPr>
            <a:xfrm>
              <a:off x="571500" y="1905000"/>
              <a:ext cx="2095500" cy="2667000"/>
            </a:xfrm>
            <a:prstGeom prst="roundRect">
              <a:avLst>
                <a:gd fmla="val 5454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0"/>
            <p:cNvSpPr txBox="1"/>
            <p:nvPr/>
          </p:nvSpPr>
          <p:spPr>
            <a:xfrm>
              <a:off x="571500" y="2047875"/>
              <a:ext cx="2095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A73E8"/>
                  </a:solidFill>
                  <a:latin typeface="Roboto"/>
                  <a:ea typeface="Roboto"/>
                  <a:cs typeface="Roboto"/>
                  <a:sym typeface="Roboto"/>
                </a:rPr>
                <a:t>EXECUTION HISTORY</a:t>
              </a:r>
              <a:endParaRPr b="1" sz="100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762000" y="2428875"/>
              <a:ext cx="1714500" cy="333300"/>
            </a:xfrm>
            <a:prstGeom prst="roundRect">
              <a:avLst>
                <a:gd fmla="val 17142" name="adj"/>
              </a:avLst>
            </a:prstGeom>
            <a:solidFill>
              <a:srgbClr val="FFFFFF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 txBox="1"/>
            <p:nvPr/>
          </p:nvSpPr>
          <p:spPr>
            <a:xfrm>
              <a:off x="904875" y="2428875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Run 1</a:t>
              </a:r>
              <a:endParaRPr b="1" sz="10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1857375" y="2428875"/>
              <a:ext cx="476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4A853"/>
                  </a:solidFill>
                  <a:latin typeface="Roboto"/>
                  <a:ea typeface="Roboto"/>
                  <a:cs typeface="Roboto"/>
                  <a:sym typeface="Roboto"/>
                </a:rPr>
                <a:t>PASS</a:t>
              </a:r>
              <a:endParaRPr b="1" sz="1000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762000" y="2857500"/>
              <a:ext cx="1714500" cy="333300"/>
            </a:xfrm>
            <a:prstGeom prst="roundRect">
              <a:avLst>
                <a:gd fmla="val 17142" name="adj"/>
              </a:avLst>
            </a:prstGeom>
            <a:solidFill>
              <a:srgbClr val="FFF4F4"/>
            </a:solidFill>
            <a:ln cap="flat" cmpd="sng" w="9525">
              <a:solidFill>
                <a:srgbClr val="FAD2C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 txBox="1"/>
            <p:nvPr/>
          </p:nvSpPr>
          <p:spPr>
            <a:xfrm>
              <a:off x="904875" y="2857500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Run 2</a:t>
              </a:r>
              <a:endParaRPr b="1" sz="10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8" name="Google Shape;248;p20"/>
            <p:cNvSpPr txBox="1"/>
            <p:nvPr/>
          </p:nvSpPr>
          <p:spPr>
            <a:xfrm>
              <a:off x="1857375" y="2857500"/>
              <a:ext cx="476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93025"/>
                  </a:solidFill>
                  <a:latin typeface="Roboto"/>
                  <a:ea typeface="Roboto"/>
                  <a:cs typeface="Roboto"/>
                  <a:sym typeface="Roboto"/>
                </a:rPr>
                <a:t>FAIL</a:t>
              </a:r>
              <a:endParaRPr b="1" sz="1000">
                <a:solidFill>
                  <a:srgbClr val="D9302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762000" y="3286125"/>
              <a:ext cx="1714500" cy="333300"/>
            </a:xfrm>
            <a:prstGeom prst="roundRect">
              <a:avLst>
                <a:gd fmla="val 17142" name="adj"/>
              </a:avLst>
            </a:prstGeom>
            <a:solidFill>
              <a:srgbClr val="FFFFFF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0"/>
            <p:cNvSpPr txBox="1"/>
            <p:nvPr/>
          </p:nvSpPr>
          <p:spPr>
            <a:xfrm>
              <a:off x="904875" y="3286125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Run 3</a:t>
              </a:r>
              <a:endParaRPr b="1" sz="10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1" name="Google Shape;251;p20"/>
            <p:cNvSpPr txBox="1"/>
            <p:nvPr/>
          </p:nvSpPr>
          <p:spPr>
            <a:xfrm>
              <a:off x="1857375" y="3286125"/>
              <a:ext cx="476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4A853"/>
                  </a:solidFill>
                  <a:latin typeface="Roboto"/>
                  <a:ea typeface="Roboto"/>
                  <a:cs typeface="Roboto"/>
                  <a:sym typeface="Roboto"/>
                </a:rPr>
                <a:t>PASS</a:t>
              </a:r>
              <a:endParaRPr b="1" sz="1000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762000" y="3714750"/>
              <a:ext cx="1714500" cy="333300"/>
            </a:xfrm>
            <a:prstGeom prst="roundRect">
              <a:avLst>
                <a:gd fmla="val 17142" name="adj"/>
              </a:avLst>
            </a:prstGeom>
            <a:solidFill>
              <a:srgbClr val="FFFFFF"/>
            </a:solidFill>
            <a:ln cap="flat" cmpd="sng" w="9525">
              <a:solidFill>
                <a:srgbClr val="E8E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0"/>
            <p:cNvSpPr txBox="1"/>
            <p:nvPr/>
          </p:nvSpPr>
          <p:spPr>
            <a:xfrm>
              <a:off x="904875" y="3714750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Run 4</a:t>
              </a:r>
              <a:endParaRPr b="1" sz="10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4" name="Google Shape;254;p20"/>
            <p:cNvSpPr txBox="1"/>
            <p:nvPr/>
          </p:nvSpPr>
          <p:spPr>
            <a:xfrm>
              <a:off x="1857375" y="3714750"/>
              <a:ext cx="476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4A853"/>
                  </a:solidFill>
                  <a:latin typeface="Roboto"/>
                  <a:ea typeface="Roboto"/>
                  <a:cs typeface="Roboto"/>
                  <a:sym typeface="Roboto"/>
                </a:rPr>
                <a:t>PASS</a:t>
              </a:r>
              <a:endParaRPr b="1" sz="1000">
                <a:solidFill>
                  <a:srgbClr val="34A85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762000" y="4143375"/>
              <a:ext cx="1714500" cy="333300"/>
            </a:xfrm>
            <a:prstGeom prst="roundRect">
              <a:avLst>
                <a:gd fmla="val 17142" name="adj"/>
              </a:avLst>
            </a:prstGeom>
            <a:solidFill>
              <a:srgbClr val="FFF4F4"/>
            </a:solidFill>
            <a:ln cap="flat" cmpd="sng" w="9525">
              <a:solidFill>
                <a:srgbClr val="FAD2C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0"/>
            <p:cNvSpPr txBox="1"/>
            <p:nvPr/>
          </p:nvSpPr>
          <p:spPr>
            <a:xfrm>
              <a:off x="904875" y="4143375"/>
              <a:ext cx="76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Run 5</a:t>
              </a:r>
              <a:endParaRPr b="1" sz="10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7" name="Google Shape;257;p20"/>
            <p:cNvSpPr txBox="1"/>
            <p:nvPr/>
          </p:nvSpPr>
          <p:spPr>
            <a:xfrm>
              <a:off x="1857375" y="4143375"/>
              <a:ext cx="476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93025"/>
                  </a:solidFill>
                  <a:latin typeface="Roboto"/>
                  <a:ea typeface="Roboto"/>
                  <a:cs typeface="Roboto"/>
                  <a:sym typeface="Roboto"/>
                </a:rPr>
                <a:t>FAIL</a:t>
              </a:r>
              <a:endParaRPr b="1" sz="1000">
                <a:solidFill>
                  <a:srgbClr val="D9302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8" name="Google Shape;258;p20"/>
          <p:cNvGrpSpPr/>
          <p:nvPr/>
        </p:nvGrpSpPr>
        <p:grpSpPr>
          <a:xfrm>
            <a:off x="2857500" y="1905000"/>
            <a:ext cx="2667000" cy="2667000"/>
            <a:chOff x="2857500" y="1905000"/>
            <a:chExt cx="2667000" cy="2667000"/>
          </a:xfrm>
        </p:grpSpPr>
        <p:sp>
          <p:nvSpPr>
            <p:cNvPr id="259" name="Google Shape;259;p20"/>
            <p:cNvSpPr/>
            <p:nvPr/>
          </p:nvSpPr>
          <p:spPr>
            <a:xfrm>
              <a:off x="2857500" y="1905000"/>
              <a:ext cx="2667000" cy="2667000"/>
            </a:xfrm>
            <a:prstGeom prst="roundRect">
              <a:avLst>
                <a:gd fmla="val 4285" name="adj"/>
              </a:avLst>
            </a:prstGeom>
            <a:solidFill>
              <a:srgbClr val="E8F0FE"/>
            </a:solidFill>
            <a:ln cap="flat" cmpd="sng" w="19050">
              <a:solidFill>
                <a:srgbClr val="D2E3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 txBox="1"/>
            <p:nvPr/>
          </p:nvSpPr>
          <p:spPr>
            <a:xfrm>
              <a:off x="2857500" y="2047875"/>
              <a:ext cx="2667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A73E8"/>
                  </a:solidFill>
                  <a:latin typeface="Roboto"/>
                  <a:ea typeface="Roboto"/>
                  <a:cs typeface="Roboto"/>
                  <a:sym typeface="Roboto"/>
                </a:rPr>
                <a:t>AI ANALYSIS FLOW</a:t>
              </a:r>
              <a:endParaRPr b="1" sz="100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3238500" y="2381250"/>
              <a:ext cx="1905000" cy="3810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 txBox="1"/>
            <p:nvPr/>
          </p:nvSpPr>
          <p:spPr>
            <a:xfrm>
              <a:off x="3238500" y="238125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Execution History</a:t>
              </a:r>
              <a:endParaRPr b="1" sz="9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63" name="Google Shape;263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38613" y="2762250"/>
              <a:ext cx="104700" cy="1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20"/>
            <p:cNvSpPr/>
            <p:nvPr/>
          </p:nvSpPr>
          <p:spPr>
            <a:xfrm>
              <a:off x="3238500" y="2952750"/>
              <a:ext cx="1905000" cy="3810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 txBox="1"/>
            <p:nvPr/>
          </p:nvSpPr>
          <p:spPr>
            <a:xfrm>
              <a:off x="3238500" y="295275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Pattern Analysis</a:t>
              </a:r>
              <a:endParaRPr b="1" sz="9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66" name="Google Shape;266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38613" y="3333750"/>
              <a:ext cx="104700" cy="1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0"/>
            <p:cNvSpPr/>
            <p:nvPr/>
          </p:nvSpPr>
          <p:spPr>
            <a:xfrm>
              <a:off x="3238500" y="3524250"/>
              <a:ext cx="1905000" cy="3810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0"/>
            <p:cNvSpPr txBox="1"/>
            <p:nvPr/>
          </p:nvSpPr>
          <p:spPr>
            <a:xfrm>
              <a:off x="3238500" y="352425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Anomaly Detection</a:t>
              </a:r>
              <a:endParaRPr b="1" sz="90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69" name="Google Shape;269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38613" y="3905250"/>
              <a:ext cx="104700" cy="1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0"/>
            <p:cNvSpPr/>
            <p:nvPr/>
          </p:nvSpPr>
          <p:spPr>
            <a:xfrm>
              <a:off x="3238500" y="4095750"/>
              <a:ext cx="1905000" cy="381000"/>
            </a:xfrm>
            <a:prstGeom prst="roundRect">
              <a:avLst>
                <a:gd fmla="val 50000" name="adj"/>
              </a:avLst>
            </a:prstGeom>
            <a:solidFill>
              <a:srgbClr val="1A73E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0"/>
            <p:cNvSpPr txBox="1"/>
            <p:nvPr/>
          </p:nvSpPr>
          <p:spPr>
            <a:xfrm>
              <a:off x="3238500" y="409575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Flaky Test Flagged</a:t>
              </a:r>
              <a:endParaRPr b="1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72" name="Google Shape;272;p20"/>
          <p:cNvGrpSpPr/>
          <p:nvPr/>
        </p:nvGrpSpPr>
        <p:grpSpPr>
          <a:xfrm>
            <a:off x="5715000" y="1905000"/>
            <a:ext cx="2857500" cy="2667000"/>
            <a:chOff x="5715000" y="1905000"/>
            <a:chExt cx="2857500" cy="2667000"/>
          </a:xfrm>
        </p:grpSpPr>
        <p:sp>
          <p:nvSpPr>
            <p:cNvPr id="273" name="Google Shape;273;p20"/>
            <p:cNvSpPr/>
            <p:nvPr/>
          </p:nvSpPr>
          <p:spPr>
            <a:xfrm>
              <a:off x="5715000" y="1905000"/>
              <a:ext cx="2857500" cy="2667000"/>
            </a:xfrm>
            <a:prstGeom prst="roundRect">
              <a:avLst>
                <a:gd fmla="val 4285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 txBox="1"/>
            <p:nvPr/>
          </p:nvSpPr>
          <p:spPr>
            <a:xfrm>
              <a:off x="5857875" y="2047875"/>
              <a:ext cx="2571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A73E8"/>
                  </a:solidFill>
                  <a:latin typeface="Roboto"/>
                  <a:ea typeface="Roboto"/>
                  <a:cs typeface="Roboto"/>
                  <a:sym typeface="Roboto"/>
                </a:rPr>
                <a:t>AI DETECTION PROCESS</a:t>
              </a:r>
              <a:endParaRPr b="1" sz="100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5" name="Google Shape;275;p20"/>
            <p:cNvSpPr txBox="1"/>
            <p:nvPr/>
          </p:nvSpPr>
          <p:spPr>
            <a:xfrm>
              <a:off x="5857875" y="2381250"/>
              <a:ext cx="2571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By analyzing historical execution results, AI identifies recurring intermittent failures and detects patterns that indicate test instability.</a:t>
              </a:r>
              <a:endParaRPr b="0" sz="105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rPr>
                <a:t>Based on this analysis, the test is flagged as a potential flaky test for further investigation.</a:t>
              </a:r>
              <a:endParaRPr b="0" sz="1050">
                <a:solidFill>
                  <a:srgbClr val="3C40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76" name="Google Shape;276;p20"/>
            <p:cNvSpPr txBox="1"/>
            <p:nvPr/>
          </p:nvSpPr>
          <p:spPr>
            <a:xfrm>
              <a:off x="6953250" y="389851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8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38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571500" y="476250"/>
            <a:ext cx="571500" cy="573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571500" y="66675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rPr>
              <a:t>Benefits and Conclusion</a:t>
            </a:r>
            <a:endParaRPr b="1" sz="2800">
              <a:solidFill>
                <a:srgbClr val="1A73E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84" name="Google Shape;284;p21"/>
          <p:cNvGrpSpPr/>
          <p:nvPr/>
        </p:nvGrpSpPr>
        <p:grpSpPr>
          <a:xfrm>
            <a:off x="571500" y="1428750"/>
            <a:ext cx="5334000" cy="3333900"/>
            <a:chOff x="0" y="0"/>
            <a:chExt cx="5334000" cy="3333900"/>
          </a:xfrm>
        </p:grpSpPr>
        <p:sp>
          <p:nvSpPr>
            <p:cNvPr id="285" name="Google Shape;285;p21"/>
            <p:cNvSpPr/>
            <p:nvPr/>
          </p:nvSpPr>
          <p:spPr>
            <a:xfrm>
              <a:off x="0" y="0"/>
              <a:ext cx="5334000" cy="3333900"/>
            </a:xfrm>
            <a:prstGeom prst="roundRect">
              <a:avLst>
                <a:gd fmla="val 3428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1"/>
            <p:cNvSpPr txBox="1"/>
            <p:nvPr/>
          </p:nvSpPr>
          <p:spPr>
            <a:xfrm>
              <a:off x="190500" y="190500"/>
              <a:ext cx="495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Roboto"/>
                  <a:ea typeface="Roboto"/>
                  <a:cs typeface="Roboto"/>
                  <a:sym typeface="Roboto"/>
                </a:rPr>
                <a:t>Key Benefits of AI Integration</a:t>
              </a:r>
              <a:endParaRPr b="1" sz="140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87" name="Google Shape;287;p21"/>
            <p:cNvGrpSpPr/>
            <p:nvPr/>
          </p:nvGrpSpPr>
          <p:grpSpPr>
            <a:xfrm>
              <a:off x="190500" y="666750"/>
              <a:ext cx="2381400" cy="762000"/>
              <a:chOff x="0" y="0"/>
              <a:chExt cx="2381400" cy="762000"/>
            </a:xfrm>
          </p:grpSpPr>
          <p:sp>
            <p:nvSpPr>
              <p:cNvPr id="288" name="Google Shape;288;p21"/>
              <p:cNvSpPr/>
              <p:nvPr/>
            </p:nvSpPr>
            <p:spPr>
              <a:xfrm>
                <a:off x="0" y="0"/>
                <a:ext cx="2381400" cy="762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1"/>
              <p:cNvSpPr txBox="1"/>
              <p:nvPr/>
            </p:nvSpPr>
            <p:spPr>
              <a:xfrm>
                <a:off x="95250" y="2255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73E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speed</a:t>
                </a:r>
                <a:endParaRPr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90" name="Google Shape;290;p21"/>
              <p:cNvSpPr txBox="1"/>
              <p:nvPr/>
            </p:nvSpPr>
            <p:spPr>
              <a:xfrm>
                <a:off x="571500" y="9525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3C4043"/>
                    </a:solidFill>
                    <a:latin typeface="Roboto"/>
                    <a:ea typeface="Roboto"/>
                    <a:cs typeface="Roboto"/>
                    <a:sym typeface="Roboto"/>
                  </a:rPr>
                  <a:t>Faster Identification</a:t>
                </a:r>
                <a:endParaRPr b="1" sz="11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Rapidly flags unstable tests</a:t>
                </a:r>
                <a:endParaRPr b="0" sz="105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91" name="Google Shape;291;p21"/>
            <p:cNvGrpSpPr/>
            <p:nvPr/>
          </p:nvGrpSpPr>
          <p:grpSpPr>
            <a:xfrm>
              <a:off x="2762250" y="666750"/>
              <a:ext cx="2381400" cy="762000"/>
              <a:chOff x="0" y="0"/>
              <a:chExt cx="2381400" cy="762000"/>
            </a:xfrm>
          </p:grpSpPr>
          <p:sp>
            <p:nvSpPr>
              <p:cNvPr id="292" name="Google Shape;292;p21"/>
              <p:cNvSpPr/>
              <p:nvPr/>
            </p:nvSpPr>
            <p:spPr>
              <a:xfrm>
                <a:off x="0" y="0"/>
                <a:ext cx="2381400" cy="762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1"/>
              <p:cNvSpPr txBox="1"/>
              <p:nvPr/>
            </p:nvSpPr>
            <p:spPr>
              <a:xfrm>
                <a:off x="95250" y="2255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73E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reduce_capacity</a:t>
                </a:r>
                <a:endParaRPr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94" name="Google Shape;294;p21"/>
              <p:cNvSpPr txBox="1"/>
              <p:nvPr/>
            </p:nvSpPr>
            <p:spPr>
              <a:xfrm>
                <a:off x="571500" y="9525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3C4043"/>
                    </a:solidFill>
                    <a:latin typeface="Roboto"/>
                    <a:ea typeface="Roboto"/>
                    <a:cs typeface="Roboto"/>
                    <a:sym typeface="Roboto"/>
                  </a:rPr>
                  <a:t>Reduced Effort</a:t>
                </a:r>
                <a:endParaRPr b="1" sz="11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Minimizes manual triage</a:t>
                </a:r>
                <a:endParaRPr b="0" sz="105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95" name="Google Shape;295;p21"/>
            <p:cNvGrpSpPr/>
            <p:nvPr/>
          </p:nvGrpSpPr>
          <p:grpSpPr>
            <a:xfrm>
              <a:off x="190500" y="1571625"/>
              <a:ext cx="2381400" cy="762000"/>
              <a:chOff x="0" y="0"/>
              <a:chExt cx="2381400" cy="762000"/>
            </a:xfrm>
          </p:grpSpPr>
          <p:sp>
            <p:nvSpPr>
              <p:cNvPr id="296" name="Google Shape;296;p21"/>
              <p:cNvSpPr/>
              <p:nvPr/>
            </p:nvSpPr>
            <p:spPr>
              <a:xfrm>
                <a:off x="0" y="0"/>
                <a:ext cx="2381400" cy="762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21"/>
              <p:cNvSpPr txBox="1"/>
              <p:nvPr/>
            </p:nvSpPr>
            <p:spPr>
              <a:xfrm>
                <a:off x="95250" y="2255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73E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verified_user</a:t>
                </a:r>
                <a:endParaRPr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298" name="Google Shape;298;p21"/>
              <p:cNvSpPr txBox="1"/>
              <p:nvPr/>
            </p:nvSpPr>
            <p:spPr>
              <a:xfrm>
                <a:off x="571500" y="9525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3C4043"/>
                    </a:solidFill>
                    <a:latin typeface="Roboto"/>
                    <a:ea typeface="Roboto"/>
                    <a:cs typeface="Roboto"/>
                    <a:sym typeface="Roboto"/>
                  </a:rPr>
                  <a:t>Improved Reliability</a:t>
                </a:r>
                <a:endParaRPr b="1" sz="11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Consistent automation results</a:t>
                </a:r>
                <a:endParaRPr b="0" sz="105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299" name="Google Shape;299;p21"/>
            <p:cNvGrpSpPr/>
            <p:nvPr/>
          </p:nvGrpSpPr>
          <p:grpSpPr>
            <a:xfrm>
              <a:off x="2762250" y="1571625"/>
              <a:ext cx="2381400" cy="762000"/>
              <a:chOff x="0" y="0"/>
              <a:chExt cx="2381400" cy="762000"/>
            </a:xfrm>
          </p:grpSpPr>
          <p:sp>
            <p:nvSpPr>
              <p:cNvPr id="300" name="Google Shape;300;p21"/>
              <p:cNvSpPr/>
              <p:nvPr/>
            </p:nvSpPr>
            <p:spPr>
              <a:xfrm>
                <a:off x="0" y="0"/>
                <a:ext cx="2381400" cy="762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21"/>
              <p:cNvSpPr txBox="1"/>
              <p:nvPr/>
            </p:nvSpPr>
            <p:spPr>
              <a:xfrm>
                <a:off x="95250" y="22555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73E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rocket_launch</a:t>
                </a:r>
                <a:endParaRPr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02" name="Google Shape;302;p21"/>
              <p:cNvSpPr txBox="1"/>
              <p:nvPr/>
            </p:nvSpPr>
            <p:spPr>
              <a:xfrm>
                <a:off x="571500" y="9525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3C4043"/>
                    </a:solidFill>
                    <a:latin typeface="Roboto"/>
                    <a:ea typeface="Roboto"/>
                    <a:cs typeface="Roboto"/>
                    <a:sym typeface="Roboto"/>
                  </a:rPr>
                  <a:t>CI/CD Stability</a:t>
                </a:r>
                <a:endParaRPr b="1" sz="11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Seamless pipeline execution</a:t>
                </a:r>
                <a:endParaRPr b="0" sz="105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303" name="Google Shape;303;p21"/>
            <p:cNvGrpSpPr/>
            <p:nvPr/>
          </p:nvGrpSpPr>
          <p:grpSpPr>
            <a:xfrm>
              <a:off x="190500" y="2476500"/>
              <a:ext cx="4953000" cy="666900"/>
              <a:chOff x="0" y="0"/>
              <a:chExt cx="4953000" cy="666900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0" y="0"/>
                <a:ext cx="49530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8F0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21"/>
              <p:cNvSpPr txBox="1"/>
              <p:nvPr/>
            </p:nvSpPr>
            <p:spPr>
              <a:xfrm>
                <a:off x="190500" y="17792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>
                    <a:solidFill>
                      <a:srgbClr val="1A73E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thumb_up</a:t>
                </a:r>
                <a:endParaRPr sz="24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06" name="Google Shape;306;p21"/>
              <p:cNvSpPr txBox="1"/>
              <p:nvPr/>
            </p:nvSpPr>
            <p:spPr>
              <a:xfrm>
                <a:off x="666750" y="95250"/>
                <a:ext cx="4095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3C4043"/>
                    </a:solidFill>
                    <a:latin typeface="Roboto"/>
                    <a:ea typeface="Roboto"/>
                    <a:cs typeface="Roboto"/>
                    <a:sym typeface="Roboto"/>
                  </a:rPr>
                  <a:t>Increased Release Confidence</a:t>
                </a:r>
                <a:endParaRPr b="1" sz="1100">
                  <a:solidFill>
                    <a:srgbClr val="3C404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5F6368"/>
                    </a:solidFill>
                    <a:latin typeface="Roboto"/>
                    <a:ea typeface="Roboto"/>
                    <a:cs typeface="Roboto"/>
                    <a:sym typeface="Roboto"/>
                  </a:rPr>
                  <a:t>Higher quality software delivered with certainty</a:t>
                </a:r>
                <a:endParaRPr b="0" sz="105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307" name="Google Shape;307;p21"/>
          <p:cNvGrpSpPr/>
          <p:nvPr/>
        </p:nvGrpSpPr>
        <p:grpSpPr>
          <a:xfrm>
            <a:off x="6096000" y="1428750"/>
            <a:ext cx="3048000" cy="4000500"/>
            <a:chOff x="0" y="0"/>
            <a:chExt cx="3048000" cy="4000500"/>
          </a:xfrm>
        </p:grpSpPr>
        <p:pic>
          <p:nvPicPr>
            <p:cNvPr descr="A professional corporate image of a hand placing the final piece into a puzzle, symbolizing a complete solution and conclusion. Blue and white tones." id="308" name="Google Shape;308;p21"/>
            <p:cNvPicPr preferRelativeResize="0"/>
            <p:nvPr/>
          </p:nvPicPr>
          <p:blipFill rotWithShape="1">
            <a:blip r:embed="rId3">
              <a:alphaModFix/>
            </a:blip>
            <a:srcRect b="-169040" l="0" r="-14286" t="2373"/>
            <a:stretch/>
          </p:blipFill>
          <p:spPr>
            <a:xfrm>
              <a:off x="0" y="0"/>
              <a:ext cx="3048000" cy="4000500"/>
            </a:xfrm>
            <a:prstGeom prst="roundRect">
              <a:avLst>
                <a:gd fmla="val 3750" name="adj"/>
              </a:avLst>
            </a:prstGeom>
            <a:noFill/>
            <a:ln>
              <a:noFill/>
            </a:ln>
          </p:spPr>
        </p:pic>
        <p:sp>
          <p:nvSpPr>
            <p:cNvPr id="309" name="Google Shape;309;p21"/>
            <p:cNvSpPr/>
            <p:nvPr/>
          </p:nvSpPr>
          <p:spPr>
            <a:xfrm>
              <a:off x="0" y="1619250"/>
              <a:ext cx="2667000" cy="1714500"/>
            </a:xfrm>
            <a:prstGeom prst="roundRect">
              <a:avLst>
                <a:gd fmla="val 6666" name="adj"/>
              </a:avLst>
            </a:prstGeom>
            <a:solidFill>
              <a:srgbClr val="F8F9F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1"/>
            <p:cNvSpPr txBox="1"/>
            <p:nvPr/>
          </p:nvSpPr>
          <p:spPr>
            <a:xfrm>
              <a:off x="142875" y="1762125"/>
              <a:ext cx="2381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1A73E8"/>
                  </a:solidFill>
                  <a:latin typeface="Roboto"/>
                  <a:ea typeface="Roboto"/>
                  <a:cs typeface="Roboto"/>
                  <a:sym typeface="Roboto"/>
                </a:rPr>
                <a:t>Conclusion</a:t>
              </a:r>
              <a:endParaRPr b="1" sz="1400">
                <a:solidFill>
                  <a:srgbClr val="1A73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5F6368"/>
                  </a:solidFill>
                  <a:latin typeface="Roboto"/>
                  <a:ea typeface="Roboto"/>
                  <a:cs typeface="Roboto"/>
                  <a:sym typeface="Roboto"/>
                </a:rPr>
                <a:t>AI provides an efficient, scalable approach to identifying unstable tests by analyzing historical execution patterns. As suites grow, AI-driven detection becomes vital for release quality.</a:t>
              </a:r>
              <a:endParaRPr b="0" sz="1050">
                <a:solidFill>
                  <a:srgbClr val="5F6368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